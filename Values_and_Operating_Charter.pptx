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8734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0211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7174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2377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519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115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737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4791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2737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438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2059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514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Our Values &amp; Operating Charter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How We Work, Decide, and Contribute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Arriving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06719" y="2286000"/>
            <a:ext cx="3930564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i="1" dirty="0"/>
              <a:t>Before we begin, we pause.</a:t>
            </a:r>
            <a:endParaRPr lang="en-SG" sz="2800" i="1" dirty="0"/>
          </a:p>
          <a:p>
            <a:pPr algn="ctr"/>
            <a:endParaRPr sz="2800" i="1" dirty="0"/>
          </a:p>
          <a:p>
            <a:pPr algn="ctr"/>
            <a:r>
              <a:rPr sz="2000" dirty="0"/>
              <a:t>To arrive fully, to set aside urgency,</a:t>
            </a:r>
          </a:p>
          <a:p>
            <a:pPr algn="ctr"/>
            <a:r>
              <a:rPr sz="2000" dirty="0"/>
              <a:t>and to be present with one another.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Setting Our Intention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Why are we here?</a:t>
            </a:r>
          </a:p>
          <a:p>
            <a:r>
              <a:rPr sz="2400" dirty="0"/>
              <a:t>What kind of work do we want to do?</a:t>
            </a:r>
          </a:p>
          <a:p>
            <a:r>
              <a:rPr sz="2400" dirty="0"/>
              <a:t>Who do we want to be while doing it?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Our Guiding Belief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4586" y="2286000"/>
            <a:ext cx="8734827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i="1" dirty="0"/>
              <a:t>We optimize for longevity, not burnout.</a:t>
            </a:r>
            <a:endParaRPr lang="en-SG" sz="2800" i="1" dirty="0"/>
          </a:p>
          <a:p>
            <a:pPr algn="ctr"/>
            <a:endParaRPr sz="2800" i="1" dirty="0"/>
          </a:p>
          <a:p>
            <a:pPr algn="ctr"/>
            <a:r>
              <a:rPr sz="2000" dirty="0"/>
              <a:t>We work with skill and intensity, rest with intention,</a:t>
            </a:r>
          </a:p>
          <a:p>
            <a:pPr algn="ctr"/>
            <a:r>
              <a:rPr sz="2000" dirty="0"/>
              <a:t>and stay grounded in purpose—so our contributions remain meaningful over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Sustainable Excellence, Human &amp; Spiritual Well-Being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2400" dirty="0"/>
              <a:t>Lasting excellence is built on sustainable human rhythms</a:t>
            </a:r>
          </a:p>
          <a:p>
            <a:r>
              <a:rPr sz="2400" dirty="0"/>
              <a:t>Physical, mental, relational, and spiritual well-being are inseparable</a:t>
            </a:r>
          </a:p>
          <a:p>
            <a:r>
              <a:rPr sz="2400" dirty="0"/>
              <a:t>Our work is a marathon, not a sprint</a:t>
            </a:r>
          </a:p>
          <a:p>
            <a:r>
              <a:rPr sz="2400" dirty="0"/>
              <a:t>Impact comes from clarity, vitality, purpose, and presence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What We Intentionally Prioritize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Rest and recovery as sources of judgment and creativity</a:t>
            </a:r>
          </a:p>
          <a:p>
            <a:r>
              <a:rPr sz="2400" dirty="0"/>
              <a:t>Physical health and movement for resilient thinking</a:t>
            </a:r>
          </a:p>
          <a:p>
            <a:r>
              <a:rPr sz="2400" dirty="0"/>
              <a:t>Time with family, friends, and community</a:t>
            </a:r>
          </a:p>
          <a:p>
            <a:r>
              <a:rPr sz="2400" dirty="0"/>
              <a:t>Spiritual well-being, meaning, and inner alignment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Technology that empowers people</a:t>
            </a:r>
          </a:p>
          <a:p>
            <a:r>
              <a:rPr sz="2400" dirty="0"/>
              <a:t>Curiosity guided by wisdom and lived experience</a:t>
            </a:r>
          </a:p>
          <a:p>
            <a:r>
              <a:rPr sz="2400" dirty="0"/>
              <a:t>Building the future without sacrificing what makes life meaningful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Discipline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Focus, dedication, and craftsmanship</a:t>
            </a:r>
          </a:p>
          <a:p>
            <a:r>
              <a:rPr sz="2400" dirty="0"/>
              <a:t>Excellence with boundaries that protect health and integrity</a:t>
            </a:r>
          </a:p>
          <a:p>
            <a:r>
              <a:rPr sz="2400" dirty="0"/>
              <a:t>Knowing when to push, pause, and realign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Resilience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Challenges are expected and embraced</a:t>
            </a:r>
          </a:p>
          <a:p>
            <a:r>
              <a:rPr sz="2400" dirty="0"/>
              <a:t>Learning replaces blame</a:t>
            </a:r>
          </a:p>
          <a:p>
            <a:r>
              <a:rPr sz="2400" dirty="0"/>
              <a:t>Recovery and recalibration are strengths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Adaptability &amp; Nimbleness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Flexibility in tools, methods, and direction</a:t>
            </a:r>
          </a:p>
          <a:p>
            <a:r>
              <a:rPr sz="2400" dirty="0"/>
              <a:t>Balance and clarity over frantic speed</a:t>
            </a:r>
          </a:p>
          <a:p>
            <a:r>
              <a:rPr sz="2400" dirty="0"/>
              <a:t>Adjusting pace and priorities—not just technology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Cross-Domain &amp; Cross-Generational Mastery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Blending disciplines and lived experience</a:t>
            </a:r>
          </a:p>
          <a:p>
            <a:r>
              <a:rPr sz="2400" dirty="0"/>
              <a:t>Wisdom alongside speed and novelty</a:t>
            </a:r>
          </a:p>
          <a:p>
            <a:r>
              <a:rPr sz="2400" dirty="0"/>
              <a:t>Teaching and mentoring as core contributions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AI Collaboration &amp; Stewardship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AI accelerates execution</a:t>
            </a:r>
          </a:p>
          <a:p>
            <a:r>
              <a:rPr sz="2400" dirty="0"/>
              <a:t>Humans retain judgment and accountability</a:t>
            </a:r>
          </a:p>
          <a:p>
            <a:r>
              <a:rPr sz="2400" dirty="0"/>
              <a:t>Ethics, conscience, and intention remain central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How We Measure Success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Quality and integrity of outcomes</a:t>
            </a:r>
          </a:p>
          <a:p>
            <a:r>
              <a:rPr sz="2400" dirty="0"/>
              <a:t>Health of people and relationships</a:t>
            </a:r>
          </a:p>
          <a:p>
            <a:r>
              <a:rPr sz="2400" dirty="0"/>
              <a:t>Sustainability of pace</a:t>
            </a:r>
          </a:p>
          <a:p>
            <a:r>
              <a:rPr sz="2400" dirty="0"/>
              <a:t>Continuity of contribution over time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 Moment of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56865" y="2286000"/>
            <a:ext cx="4030270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i="1" dirty="0"/>
              <a:t>What stood out to you?</a:t>
            </a:r>
            <a:endParaRPr lang="en-SG" sz="2800" i="1" dirty="0"/>
          </a:p>
          <a:p>
            <a:pPr algn="ctr"/>
            <a:endParaRPr sz="2800" i="1" dirty="0"/>
          </a:p>
          <a:p>
            <a:pPr algn="ctr"/>
            <a:r>
              <a:rPr sz="2000" dirty="0"/>
              <a:t>What felt affirming?</a:t>
            </a:r>
          </a:p>
          <a:p>
            <a:pPr algn="ctr"/>
            <a:r>
              <a:rPr sz="2000" dirty="0"/>
              <a:t>What do you want to carry forward?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Carrying This Forward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52393" y="2286000"/>
            <a:ext cx="6239209" cy="20621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i="1" dirty="0"/>
              <a:t>Sustainable excellence is not proven today—</a:t>
            </a:r>
          </a:p>
          <a:p>
            <a:r>
              <a:rPr sz="2000" dirty="0"/>
              <a:t>it is lived over time.</a:t>
            </a:r>
          </a:p>
          <a:p>
            <a:endParaRPr sz="2000" dirty="0"/>
          </a:p>
          <a:p>
            <a:r>
              <a:rPr sz="2000" dirty="0"/>
              <a:t>May we leave grounded, aligned,</a:t>
            </a:r>
          </a:p>
          <a:p>
            <a:r>
              <a:rPr sz="2000" dirty="0"/>
              <a:t>and committed to working in ways</a:t>
            </a:r>
          </a:p>
          <a:p>
            <a:r>
              <a:rPr sz="2000" dirty="0"/>
              <a:t>that allow us—and others—to remain whole.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13</TotalTime>
  <Words>393</Words>
  <Application>Microsoft Office PowerPoint</Application>
  <PresentationFormat>On-screen Show (4:3)</PresentationFormat>
  <Paragraphs>67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Gill Sans MT</vt:lpstr>
      <vt:lpstr>Gallery</vt:lpstr>
      <vt:lpstr>Our Values &amp; Operating Charter</vt:lpstr>
      <vt:lpstr>Arriving Together</vt:lpstr>
      <vt:lpstr>Setting Our Intention</vt:lpstr>
      <vt:lpstr>Our Guiding Belief</vt:lpstr>
      <vt:lpstr>Sustainable Excellence, Human &amp; Spiritual Well-Being</vt:lpstr>
      <vt:lpstr>What We Intentionally Prioritize</vt:lpstr>
      <vt:lpstr>Vision</vt:lpstr>
      <vt:lpstr>Discipline</vt:lpstr>
      <vt:lpstr>Resilience</vt:lpstr>
      <vt:lpstr>Adaptability &amp; Nimbleness</vt:lpstr>
      <vt:lpstr>Cross-Domain &amp; Cross-Generational Mastery</vt:lpstr>
      <vt:lpstr>AI Collaboration &amp; Stewardship</vt:lpstr>
      <vt:lpstr>How We Measure Success</vt:lpstr>
      <vt:lpstr>A Moment of Reflection</vt:lpstr>
      <vt:lpstr>Carrying This Forward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Sean</cp:lastModifiedBy>
  <cp:revision>3</cp:revision>
  <dcterms:created xsi:type="dcterms:W3CDTF">2013-01-27T09:14:16Z</dcterms:created>
  <dcterms:modified xsi:type="dcterms:W3CDTF">2025-12-15T01:38:18Z</dcterms:modified>
  <cp:category/>
</cp:coreProperties>
</file>